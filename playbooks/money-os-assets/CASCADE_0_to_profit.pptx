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photo: https://upload.wikimedia.org/wikipedia/commons/f/fb/Wikimedia_Conference_Berlin_-_Developer_meeting_%287700%29.jpg (via image search: turn4image5)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Concept synthesized from audit → demo → ROI → proposal workflow described in 01-audit-methodology.md (e.g., discovery + demo + ROI), 04-proposal-template.md (pricing/next steps).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Landing page promise + outcomes: 03-landing-page-copy.md (hero + problem/solution sections).
- Audit objective: 01-audit-methodology.md L6-L8 (3–5 opportunities; 5–15 hrs/wk).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Pricing options &amp; descriptions: 03-landing-page-copy.md (pricing section), 04-proposal-template.md (options + investment comparison).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Demo setup goals + tool stack: 10-quick-start-checklist.md L6-L19, 06-demo-setup-guide.md L6-L56.
- Chatbot icon (Public Domain): https://freesvg.org/1538298822 (downloaded PNG).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Outreach channels, subject lines, and cadence: 02-outreach-email-templates.md (templates + cadence), esp. subject lines and follow-up suggestions.
- Activity target (50–100 emails): 02-outreach-email-templates.md (conversion benchmarks section).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Audit structure: 01-audit-methodology.md L31-L36 and sections PART 1–4.
- Demo guidance: 01-audit-methodology.md L1-L32 in "Live Demonstration" portion.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Phase 1/2 examples: 01-audit-methodology.md (Example Recommendation: Phase 1–3), 04-proposal-template.md (Implementation roadmap; additional opportunities).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Make.com scenario patterns + modules: 08-make-automation-blueprints.md (Scenario #1–3).
- Flowchart symbols image (Public Domain): https://freesvg.org/flowchart-symbols (downloaded PNG).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Email/SMS templates and touchpoints: 09-email-sms-templates.md (Email #1–#5; SMS #1–#5) including decision matrix and compliance notes.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ROI examples: 01-audit-methodology.md (Time Savings Calculation + Cost-Benefit Analysis + Payback Period).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Proposal components and option framing: 04-proposal-template.md (Executive Summary; Pricing &amp; Next Steps; Investment Comparison).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Case study structure + distribution checklist: 05-case-study-framework.md (template + collection checklist + distribution).
- Re-engagement email concept: 02-outreach-email-templates.md (re-engagement template).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- 7-day plan: 10-quick-start-checklist.md (What's Next section) + 02-outreach-email-templates.md (cadence + close rate benchmark).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CASCADE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0 → Profit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automation micro-consulting playbook (acquire → audit → implement → retain)</a:t>
            </a:r>
            <a:endParaRPr lang="en-US" sz="1400" dirty="0"/>
          </a:p>
        </p:txBody>
      </p:sp>
      <p:pic>
        <p:nvPicPr>
          <p:cNvPr id="7" name="Image 0" descr="/mnt/data/img_meet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097280"/>
            <a:ext cx="3657600" cy="4754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366760" y="1097280"/>
            <a:ext cx="3657600" cy="4754880"/>
          </a:xfrm>
          <a:prstGeom prst="rect">
            <a:avLst/>
          </a:prstGeom>
          <a:solidFill>
            <a:srgbClr val="0B1B3A">
              <a:alpha val="65000"/>
            </a:srgbClr>
          </a:solidFill>
          <a:ln w="12700">
            <a:solidFill>
              <a:srgbClr val="0B1B3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5440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EPSILON · AI + Security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11734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→ Profit Flywheel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profit engine is a loop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Acquire → Audit → Deliver → Prove → Retain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3246120" cy="50292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5292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Lead gen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0" y="2999232"/>
            <a:ext cx="2286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97680" y="2743200"/>
            <a:ext cx="3246120" cy="502920"/>
          </a:xfrm>
          <a:prstGeom prst="round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285292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Audit call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89520" y="2999232"/>
            <a:ext cx="2286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863840" y="2743200"/>
            <a:ext cx="3246120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285292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Proposal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3246120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81304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6) Retainer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023360" y="3959352"/>
            <a:ext cx="2286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297680" y="3703320"/>
            <a:ext cx="3246120" cy="502920"/>
          </a:xfrm>
          <a:prstGeom prst="round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381304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5) Case study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0" y="3959352"/>
            <a:ext cx="2286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863840" y="3703320"/>
            <a:ext cx="3246120" cy="50292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381304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Implement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947654" y="3246120"/>
            <a:ext cx="0" cy="45720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77240" y="3703320"/>
            <a:ext cx="0" cy="-96012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48640" y="614476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consistent, repeatable wins (not random heroics).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CASCADE · EPSILON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11734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Stop losing leads to slow response times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promise + clear outcome sells.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24028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240280"/>
            <a:ext cx="109728" cy="10972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35000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10+ hrs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24128" y="29718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Hours reclaimed per week (target)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224028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2240280"/>
            <a:ext cx="10972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235000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3–5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910328" y="29718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opportunities per audit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95360" y="22402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95360" y="2240280"/>
            <a:ext cx="109728" cy="1097280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23500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&lt; 60s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796528" y="29718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 goal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3749040"/>
            <a:ext cx="105613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51560" y="39136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offer (in human language)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4315968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Instant lead follow-up + qualification (website/social/missed calls)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Appointment scheduling + reminders (fewer no-shows)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FAQ automation (24/7 answers, fewer interruptions)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Optional optimization + reporting (monthly)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Message: outcomes, not tools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11734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Ladder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Offer ladder (free → paid → recurring)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next step obvious.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33832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240280"/>
            <a:ext cx="3383280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5877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AI Workflow Audit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063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3474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 minutes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393192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+ mapping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 snapshot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2240280"/>
            <a:ext cx="33832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3400" y="2240280"/>
            <a:ext cx="338328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5877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Setup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3063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$500–$800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0" y="3474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1–2 weeks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393192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automations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training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2-week support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2240280"/>
            <a:ext cx="33832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55280" y="2240280"/>
            <a:ext cx="3383280" cy="201168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25877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Done-For-You + Retainer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83880" y="3063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$1,200 + $300–$500/mo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183880" y="3474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2–3 weeks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75320" y="393192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+ Phase 2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+ optimization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reporting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60520" y="4069080"/>
            <a:ext cx="13716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772400" y="4069080"/>
            <a:ext cx="13716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is a ladder, not a menu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11734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0: Build the demo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 up demos in ~3–4 hours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close faster when you can show it live.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148840"/>
            <a:ext cx="109728" cy="10972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25856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3–4 hrs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24128" y="28803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setup 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214884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2148840"/>
            <a:ext cx="10972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225856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910328" y="28803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95360" y="214884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95360" y="2148840"/>
            <a:ext cx="109728" cy="1097280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225856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796528" y="28803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3520440"/>
            <a:ext cx="10561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51560" y="3703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stack (free tiers)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51560" y="4206240"/>
            <a:ext cx="2057400" cy="502920"/>
          </a:xfrm>
          <a:prstGeom prst="round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31596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Typebot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46120" y="4206240"/>
            <a:ext cx="2057400" cy="50292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431596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Cal.com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40680" y="4206240"/>
            <a:ext cx="2148840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431596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Make.com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726680" y="4206240"/>
            <a:ext cx="2240280" cy="502920"/>
          </a:xfrm>
          <a:prstGeom prst="round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43159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Sheets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104120" y="4206240"/>
            <a:ext cx="1234440" cy="50292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04120" y="4315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Twilio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154680" y="4462272"/>
            <a:ext cx="9144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303520" y="4462272"/>
            <a:ext cx="13716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571232" y="4462272"/>
            <a:ext cx="155448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966960" y="4462272"/>
            <a:ext cx="13716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pic>
        <p:nvPicPr>
          <p:cNvPr id="35" name="Image 0" descr="/mnt/data/img_chat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4983480"/>
            <a:ext cx="457200" cy="45720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645920" y="4983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qualifier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FAQ bot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726680" y="4983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working demos: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726680" y="52578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Lead capture (chatbot → sheet → email)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24hr reminders (SMS)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FAQ auto-responder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0: demo stack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11734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Gen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Fill the pipeline (fast, ethical, repeatable)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goal is booked audits, not “likes.”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5532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239572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Outbound channels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278892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Cold email (high personalization)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Warm intros (existing network)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LinkedIn DM (value-first)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Local groups (FB / community posts)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51560" y="4251960"/>
            <a:ext cx="5074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389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lines that get opened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47091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“Quick question about [Business Name]’s follow-up”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“Noticed something on your website…”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“Are you losing leads to slow response times?”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2194560"/>
            <a:ext cx="48920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239572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activity targets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20840" y="28346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Send 50–100 tailored messages → book 3–5 audits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333756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it simple:</a:t>
            </a:r>
            <a:endParaRPr lang="en-US" sz="12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Specific observation</a:t>
            </a:r>
            <a:endParaRPr lang="en-US" sz="12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Clear benefit (hours + leads)</a:t>
            </a:r>
            <a:endParaRPr lang="en-US" sz="12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Single CTA: “20-min call?”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45720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 cadence: Day 0 → Day 3 → Day 7 → 30–60d re-engage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is a numbers game, but personalization is the cheat code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11734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Call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a 90–120 minute audit that sells itself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→ Opportunities → Demo → ROI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10728655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2606040"/>
            <a:ext cx="320040" cy="32004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6517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08760" y="25877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1: Discovery (30m)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862072"/>
            <a:ext cx="9631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flow, comms, scheduling, ops. Get numbers.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51560" y="3429000"/>
            <a:ext cx="320040" cy="3200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4747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34107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2: Opportunity map (30m)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685032"/>
            <a:ext cx="9631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top 3–5 wins. Document time + revenue impact.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51560" y="4251960"/>
            <a:ext cx="320040" cy="320040"/>
          </a:xfrm>
          <a:prstGeom prst="round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2976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08760" y="4233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3: Demo (20m)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507992"/>
            <a:ext cx="9631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1–2 automations live (“set it &amp; forget it”).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51560" y="5074920"/>
            <a:ext cx="320040" cy="32004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51206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50566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4: ROI + recommendation (10m)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5330952"/>
            <a:ext cx="9631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time saved, tool cost, payback period.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5715000"/>
            <a:ext cx="100885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 tip: quantify everything (hours/week, no-shows/week, leads/day).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= discovery + proof + ROI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11734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Mapping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Typical automation menu (prioritized)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quick wins, then deepen.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5532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239572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1: Quick wins (Week 1–2)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278892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Lead qualification chatbot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Appointment reminders (7d / 24h / 2h)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FAQ auto-responder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51560" y="3931920"/>
            <a:ext cx="5074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0690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metrics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43434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Response time &lt; 5 minutes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No-shows down 40–60%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5–15 hrs/week reclaimed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2194560"/>
            <a:ext cx="48920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239572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2: High impact (Week 3–4)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20840" y="2788920"/>
            <a:ext cx="4480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7-day nurture sequence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CRM data sync + lead scoring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Review request automation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Reporting dashboard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20840" y="4297680"/>
            <a:ext cx="4480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443484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to pitch Phase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20840" y="470916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Phase 1 is stable + you can measure impact.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small. Prove value. Then scale.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11734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Blueprints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automations (copy/paste patterns)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Make.com scenarios you can reuse across industries.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10728655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2468880"/>
            <a:ext cx="8214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Lead capture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51560" y="2788920"/>
            <a:ext cx="2603906" cy="50292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898648"/>
            <a:ext cx="260390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Typebot webhook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1186" y="3044952"/>
            <a:ext cx="109728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56634" y="2788920"/>
            <a:ext cx="2603906" cy="502920"/>
          </a:xfrm>
          <a:prstGeom prst="round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56634" y="2898648"/>
            <a:ext cx="260390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Sheets (add row)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06261" y="3044952"/>
            <a:ext cx="109728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661709" y="2788920"/>
            <a:ext cx="2603906" cy="502920"/>
          </a:xfrm>
          <a:prstGeom prst="round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61709" y="2898648"/>
            <a:ext cx="260390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Gmail (send email)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566160"/>
            <a:ext cx="8214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24hr reminder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51560" y="3886200"/>
            <a:ext cx="1902638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995928"/>
            <a:ext cx="19026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999918" y="4142232"/>
            <a:ext cx="109728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155366" y="3886200"/>
            <a:ext cx="1902638" cy="502920"/>
          </a:xfrm>
          <a:prstGeom prst="round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5366" y="3995928"/>
            <a:ext cx="19026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Sheets (search rows)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103724" y="4142232"/>
            <a:ext cx="109728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259172" y="3886200"/>
            <a:ext cx="1902638" cy="502920"/>
          </a:xfrm>
          <a:prstGeom prst="round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9172" y="3995928"/>
            <a:ext cx="19026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Twilio (send SMS)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07529" y="4142232"/>
            <a:ext cx="109728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62977" y="3886200"/>
            <a:ext cx="1902638" cy="502920"/>
          </a:xfrm>
          <a:prstGeom prst="round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62977" y="3995928"/>
            <a:ext cx="19026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Sheets (update row)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4663440"/>
            <a:ext cx="8214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Thank you + review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51560" y="4983480"/>
            <a:ext cx="1902638" cy="502920"/>
          </a:xfrm>
          <a:prstGeom prst="round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5093208"/>
            <a:ext cx="19026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999918" y="5239512"/>
            <a:ext cx="109728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155366" y="4983480"/>
            <a:ext cx="1902638" cy="502920"/>
          </a:xfrm>
          <a:prstGeom prst="round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55366" y="5093208"/>
            <a:ext cx="19026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Sheets (search)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103724" y="5239512"/>
            <a:ext cx="109728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259172" y="4983480"/>
            <a:ext cx="1902638" cy="502920"/>
          </a:xfrm>
          <a:prstGeom prst="round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9172" y="5093208"/>
            <a:ext cx="19026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Gmail (thank you)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207529" y="5239512"/>
            <a:ext cx="109728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362977" y="4983480"/>
            <a:ext cx="1902638" cy="502920"/>
          </a:xfrm>
          <a:prstGeom prst="round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62977" y="5093208"/>
            <a:ext cx="19026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Sheets (update row)</a:t>
            </a:r>
            <a:endParaRPr lang="en-US" sz="1300" dirty="0"/>
          </a:p>
        </p:txBody>
      </p:sp>
      <p:pic>
        <p:nvPicPr>
          <p:cNvPr id="41" name="Image 0" descr="/mnt/data/img_flowchart_symb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975" y="2788920"/>
            <a:ext cx="1417320" cy="196596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9814255" y="48006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patterns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 custom code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Steal these patterns shamelessly (then customize)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11734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Comms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Automated touchpoints that feel human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→ remind → show up → follow up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10728655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17320" y="2926080"/>
            <a:ext cx="9357055" cy="0"/>
          </a:xfrm>
          <a:prstGeom prst="line">
            <a:avLst/>
          </a:prstGeom>
          <a:noFill/>
          <a:ln w="508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8032" y="278892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3672" y="3154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03672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+ SMS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37295" y="2788920"/>
            <a:ext cx="274320" cy="274320"/>
          </a:xfrm>
          <a:prstGeom prst="ellipse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2935" y="3154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7-day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reminder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42935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76559" y="278892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82199" y="3154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24-hour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reminder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82199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+ SMS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41541" y="2788920"/>
            <a:ext cx="274320" cy="274320"/>
          </a:xfrm>
          <a:prstGeom prst="ellipse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47181" y="3154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2-hour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reminder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47181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306522" y="278892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12162" y="3154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Post-call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12162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+ review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2423160"/>
            <a:ext cx="100885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templates, then personalize with {{name}}, {{intent}}, {{booking_time}}.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5623560"/>
            <a:ext cx="100885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notes: get consent for marketing SMS; transactional reminders usually OK. Include STOP/opt-out.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no-shows = instant ROI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11734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numbers that close deals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saved + revenue impact − tool costs.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55321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239572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time-savings math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278892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time spent/week: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Lead follow-up: 5h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Scheduling: 3h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FAQs: 4h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Total: 12h/week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reduces 70–80% → reclaim 8–10h/week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value (example): 32–40h × $50/hr = $1,600–$2,000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2148840"/>
            <a:ext cx="48920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20840" y="239572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Costs &amp; payback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20840" y="278892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tool costs/month: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Make.com/Zapier: ~$29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OpenAI API: ~$15–$30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Chatbot: ~$20–$40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Integrations: $0–$50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Total: ~$64–$149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net benefit: $1,600 − $149 = $1,451/mo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Payback: &lt; 1 month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 is the language of “yes.”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11734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 the audit into a signed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 → opportunities → roadmap → options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10728655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2395728"/>
            <a:ext cx="100885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structure (what buyers actually read)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51560" y="2880360"/>
            <a:ext cx="3246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51560" y="2880360"/>
            <a:ext cx="3246120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04495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Executive summary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07592" y="342900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pain + cost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3 opportunities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 + payback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2880360"/>
            <a:ext cx="3246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2880360"/>
            <a:ext cx="3246120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04495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Detailed findings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73752" y="342900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process map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solution stack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metrics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83880" y="2880360"/>
            <a:ext cx="3246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83880" y="2880360"/>
            <a:ext cx="3246120" cy="128016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304495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Roadmap + options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39912" y="342900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(quick wins)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 (scale)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DIY vs guided vs DFY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5440680"/>
            <a:ext cx="100885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line: “Which option fits best—DIY, Guided Setup, or Done-For-You?”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decision easy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11734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studies turn “maybe” into “yes”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asset factory: before/after → testimonial → distribution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10728655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23957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 template (30-day story arc)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278892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Challenge (quantify the pain)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Solution (what you built + tools)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Results (metrics + ROI)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Testimonial (quote/video)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Visual proof (screenshots, before/after table)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20840" y="2514600"/>
            <a:ext cx="0" cy="34290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239572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 loop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27889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Publish → use in outreach → re-engage 30–60 days later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0" y="3246120"/>
            <a:ext cx="4343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it goes: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Landing page social proof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Proposal attachments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LinkedIn posts / carousels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Re-engagement email (30–60d)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5623560"/>
            <a:ext cx="100885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of thumb: document EVERYTHING during delivery so proof is effortless later.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compounds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actions (7-day sprint)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8655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645920"/>
            <a:ext cx="320040" cy="320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916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618488"/>
            <a:ext cx="94942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1–2: Build the 3-demo stack (chatbot, reminders, FAQ)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269748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7432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2670048"/>
            <a:ext cx="94942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3: Practice the demo + customize for 2–3 industries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3749040"/>
            <a:ext cx="320040" cy="320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7947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08760" y="3721608"/>
            <a:ext cx="94942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4: Launch landing page + outreach (50–100 messages)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480060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08760" y="4773168"/>
            <a:ext cx="94942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5–7: Run 3–5 audits → send proposals within 24h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97280" y="5715000"/>
            <a:ext cx="9997135" cy="548640"/>
          </a:xfrm>
          <a:prstGeom prst="round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5833872"/>
            <a:ext cx="99971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metric: 30–50% of audits → implementations. Keep the loop spinning.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EPSILON / CASCADE</dc:creator>
  <cp:lastModifiedBy>EPSILON / CASCADE</cp:lastModifiedBy>
  <cp:revision>1</cp:revision>
  <dcterms:created xsi:type="dcterms:W3CDTF">2025-12-15T04:23:36Z</dcterms:created>
  <dcterms:modified xsi:type="dcterms:W3CDTF">2025-12-15T04:23:36Z</dcterms:modified>
</cp:coreProperties>
</file>